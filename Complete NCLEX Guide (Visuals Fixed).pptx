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Open Sans SemiBold"/>
      <p:regular r:id="rId26"/>
      <p:bold r:id="rId27"/>
      <p:italic r:id="rId28"/>
      <p:boldItalic r:id="rId29"/>
    </p:embeddedFont>
    <p:embeddedFont>
      <p:font typeface="Open Sans ExtraBold"/>
      <p:bold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943E17-27E6-4F18-AA50-BFE81540D82A}">
  <a:tblStyle styleId="{22943E17-27E6-4F18-AA50-BFE81540D8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OpenSansSemiBold-italic.fntdata"/><Relationship Id="rId27" Type="http://schemas.openxmlformats.org/officeDocument/2006/relationships/font" Target="fonts/OpenSa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ExtraBold-boldItalic.fntdata"/><Relationship Id="rId30" Type="http://schemas.openxmlformats.org/officeDocument/2006/relationships/font" Target="fonts/OpenSansExtraBold-bold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24f757e8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24f757e8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2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3.png"/><Relationship Id="rId7" Type="http://schemas.openxmlformats.org/officeDocument/2006/relationships/image" Target="../media/image3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1" Type="http://schemas.openxmlformats.org/officeDocument/2006/relationships/image" Target="../media/image32.png"/><Relationship Id="rId10" Type="http://schemas.openxmlformats.org/officeDocument/2006/relationships/image" Target="../media/image9.png"/><Relationship Id="rId9" Type="http://schemas.openxmlformats.org/officeDocument/2006/relationships/image" Target="../media/image4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11" Type="http://schemas.openxmlformats.org/officeDocument/2006/relationships/image" Target="../media/image33.png"/><Relationship Id="rId10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11" Type="http://schemas.openxmlformats.org/officeDocument/2006/relationships/image" Target="../media/image51.png"/><Relationship Id="rId10" Type="http://schemas.openxmlformats.org/officeDocument/2006/relationships/image" Target="../media/image18.png"/><Relationship Id="rId12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40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8.png"/><Relationship Id="rId10" Type="http://schemas.openxmlformats.org/officeDocument/2006/relationships/image" Target="../media/image39.png"/><Relationship Id="rId13" Type="http://schemas.openxmlformats.org/officeDocument/2006/relationships/image" Target="../media/image27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Relationship Id="rId5" Type="http://schemas.openxmlformats.org/officeDocument/2006/relationships/image" Target="../media/image56.png"/><Relationship Id="rId6" Type="http://schemas.openxmlformats.org/officeDocument/2006/relationships/image" Target="../media/image50.png"/><Relationship Id="rId7" Type="http://schemas.openxmlformats.org/officeDocument/2006/relationships/image" Target="../media/image24.png"/><Relationship Id="rId8" Type="http://schemas.openxmlformats.org/officeDocument/2006/relationships/image" Target="../media/image6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43.png"/><Relationship Id="rId13" Type="http://schemas.openxmlformats.org/officeDocument/2006/relationships/image" Target="../media/image46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9" Type="http://schemas.openxmlformats.org/officeDocument/2006/relationships/image" Target="../media/image35.png"/><Relationship Id="rId14" Type="http://schemas.openxmlformats.org/officeDocument/2006/relationships/image" Target="../media/image63.png"/><Relationship Id="rId5" Type="http://schemas.openxmlformats.org/officeDocument/2006/relationships/image" Target="../media/image15.png"/><Relationship Id="rId6" Type="http://schemas.openxmlformats.org/officeDocument/2006/relationships/image" Target="../media/image58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57.png"/><Relationship Id="rId13" Type="http://schemas.openxmlformats.org/officeDocument/2006/relationships/image" Target="../media/image53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9" Type="http://schemas.openxmlformats.org/officeDocument/2006/relationships/image" Target="../media/image55.png"/><Relationship Id="rId5" Type="http://schemas.openxmlformats.org/officeDocument/2006/relationships/image" Target="../media/image15.png"/><Relationship Id="rId6" Type="http://schemas.openxmlformats.org/officeDocument/2006/relationships/image" Target="../media/image49.png"/><Relationship Id="rId7" Type="http://schemas.openxmlformats.org/officeDocument/2006/relationships/image" Target="../media/image64.png"/><Relationship Id="rId8" Type="http://schemas.openxmlformats.org/officeDocument/2006/relationships/image" Target="../media/image7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78.png"/><Relationship Id="rId6" Type="http://schemas.openxmlformats.org/officeDocument/2006/relationships/image" Target="../media/image75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9" Type="http://schemas.openxmlformats.org/officeDocument/2006/relationships/image" Target="../media/image62.png"/><Relationship Id="rId5" Type="http://schemas.openxmlformats.org/officeDocument/2006/relationships/image" Target="../media/image15.png"/><Relationship Id="rId6" Type="http://schemas.openxmlformats.org/officeDocument/2006/relationships/image" Target="../media/image79.png"/><Relationship Id="rId7" Type="http://schemas.openxmlformats.org/officeDocument/2006/relationships/image" Target="../media/image75.png"/><Relationship Id="rId8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9" Type="http://schemas.openxmlformats.org/officeDocument/2006/relationships/image" Target="../media/image66.png"/><Relationship Id="rId5" Type="http://schemas.openxmlformats.org/officeDocument/2006/relationships/image" Target="../media/image59.png"/><Relationship Id="rId6" Type="http://schemas.openxmlformats.org/officeDocument/2006/relationships/image" Target="../media/image75.png"/><Relationship Id="rId7" Type="http://schemas.openxmlformats.org/officeDocument/2006/relationships/image" Target="../media/image24.png"/><Relationship Id="rId8" Type="http://schemas.openxmlformats.org/officeDocument/2006/relationships/image" Target="../media/image7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9" Type="http://schemas.openxmlformats.org/officeDocument/2006/relationships/image" Target="../media/image85.png"/><Relationship Id="rId5" Type="http://schemas.openxmlformats.org/officeDocument/2006/relationships/image" Target="../media/image15.png"/><Relationship Id="rId6" Type="http://schemas.openxmlformats.org/officeDocument/2006/relationships/image" Target="../media/image72.png"/><Relationship Id="rId7" Type="http://schemas.openxmlformats.org/officeDocument/2006/relationships/image" Target="../media/image45.png"/><Relationship Id="rId8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Relationship Id="rId5" Type="http://schemas.openxmlformats.org/officeDocument/2006/relationships/image" Target="../media/image81.png"/><Relationship Id="rId6" Type="http://schemas.openxmlformats.org/officeDocument/2006/relationships/image" Target="../media/image77.png"/><Relationship Id="rId7" Type="http://schemas.openxmlformats.org/officeDocument/2006/relationships/image" Target="../media/image84.png"/><Relationship Id="rId8" Type="http://schemas.openxmlformats.org/officeDocument/2006/relationships/image" Target="../media/image9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73.png"/><Relationship Id="rId6" Type="http://schemas.openxmlformats.org/officeDocument/2006/relationships/image" Target="../media/image83.png"/><Relationship Id="rId7" Type="http://schemas.openxmlformats.org/officeDocument/2006/relationships/image" Target="../media/image8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01254"/>
            <a:ext cx="4953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219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072729"/>
            <a:ext cx="52006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NCLEX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Mastery Guide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9467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visual breakdown of exam mechanisms, NGN question prototypes, and scoring schemas.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2814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866775" y="4937670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RN &amp; PN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6437"/>
            <a:ext cx="5429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602384"/>
            <a:ext cx="5429250" cy="889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634805"/>
            <a:ext cx="5429250" cy="88954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76250" y="2238523"/>
            <a:ext cx="57007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72FF"/>
                </a:solidFill>
                <a:latin typeface="Poppins"/>
                <a:ea typeface="Poppins"/>
                <a:cs typeface="Poppins"/>
                <a:sym typeface="Poppins"/>
              </a:rPr>
              <a:t>The Gateway to Practice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6250" y="2829073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National Council Licensure Examination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is a standardized exam used in the US, Canada, and Australia to determine safety to practice.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976437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14375" y="3802409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NCLEX-RN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4375" y="4078634"/>
            <a:ext cx="49911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For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Registered Nurses</a:t>
            </a: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 Focuses on management of care.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14375" y="4834830"/>
            <a:ext cx="828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C6FF"/>
                </a:solidFill>
                <a:latin typeface="Open Sans"/>
                <a:ea typeface="Open Sans"/>
                <a:cs typeface="Open Sans"/>
                <a:sym typeface="Open Sans"/>
              </a:rPr>
              <a:t>NCLEX-PN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4375" y="5111055"/>
            <a:ext cx="49911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For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Practical Nurses</a:t>
            </a: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 Focuses on coordination of care.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is the NCLEX?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76437"/>
            <a:ext cx="5429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47925"/>
            <a:ext cx="11811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587180"/>
            <a:ext cx="5429250" cy="727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1976437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286500" y="2819400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It Adapts to You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286500" y="3248025"/>
            <a:ext cx="5429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exam re-estimates your ability after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every single question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77000" y="4730055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PASSING STANDARD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77000" y="4958655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Exam stops when 95% certain. 85 to 150 Questions.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368230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715125" y="3682305"/>
            <a:ext cx="3467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Correct Answer?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The next question gets </a:t>
            </a: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Harder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11093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6715125" y="4110930"/>
            <a:ext cx="35147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Incorrect Answer?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The next question gets </a:t>
            </a: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Easier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72225" y="374898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72225" y="417760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Computerized Adaptive Testing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6437"/>
            <a:ext cx="5429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96612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500" y="396612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444237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38500" y="444237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4918620"/>
            <a:ext cx="2667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38500" y="4918620"/>
            <a:ext cx="2667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476250" y="2463254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Measuring Clinical Judgment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76250" y="2891879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Launched in 2023, the NGN format tests your ability to think like a nurse in real-time, moving beyond simple memorization.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76250" y="3531840"/>
            <a:ext cx="5429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It measures the 6 steps of the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Clinical Judgment Measurement Model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86500" y="1976437"/>
            <a:ext cx="2552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Generation NCLEX (NGN)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055614"/>
            <a:ext cx="1009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289994"/>
            <a:ext cx="5429250" cy="727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" y="3005137"/>
            <a:ext cx="493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3900" y="3557587"/>
            <a:ext cx="493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3900" y="4110037"/>
            <a:ext cx="493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900" y="4662487"/>
            <a:ext cx="4933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286500" y="2427089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Standard Item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286500" y="2855714"/>
            <a:ext cx="5429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 choose the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one best answer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from four options.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286500" y="4160490"/>
            <a:ext cx="5429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Tip:</a:t>
            </a:r>
            <a:r>
              <a:rPr b="0" i="1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Look for the "Priority" action.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543425" y="1862137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QUESTION 1 OF 85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23900" y="2386012"/>
            <a:ext cx="4933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 client with heart failure reports sudden shortness of breath. Which action should the nurse take first?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477000" y="3432869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0/1 RULE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477000" y="3661469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All or nothing. No partial credit.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86500" y="4564260"/>
            <a:ext cx="54292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/>
          <p:nvPr/>
        </p:nvSpPr>
        <p:spPr>
          <a:xfrm>
            <a:off x="6762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8286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9810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47725" y="3148012"/>
            <a:ext cx="171450" cy="17145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47725" y="37004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725" y="4252912"/>
            <a:ext cx="171450" cy="17145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47725" y="4805362"/>
            <a:ext cx="171450" cy="17145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Multiple Choice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090737"/>
            <a:ext cx="781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325117"/>
            <a:ext cx="5429250" cy="727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3005137"/>
            <a:ext cx="493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3557587"/>
            <a:ext cx="493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4110037"/>
            <a:ext cx="493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4150" y="4662487"/>
            <a:ext cx="4933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4150" y="5214937"/>
            <a:ext cx="49339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76250" y="2462212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Multiple Correct Options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76250" y="2890837"/>
            <a:ext cx="5429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Select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all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correct options from a list of 5 or 6.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66750" y="3467992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+/- SCORING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66750" y="3696592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+1 Point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 correct. </a:t>
            </a:r>
            <a:r>
              <a:rPr b="0" i="0" lang="en-US" sz="105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-1 Point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 incorrect. Min 0.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6250" y="4243238"/>
            <a:ext cx="29622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10353675" y="1862137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QUESTION 5 OF 85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534150" y="2386012"/>
            <a:ext cx="4933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Which foods should the nurse instruct a client taking warfarin to avoid? Select all that apply.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4865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6389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7913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657975" y="3148012"/>
            <a:ext cx="171450" cy="171450"/>
          </a:xfrm>
          <a:prstGeom prst="roundRect">
            <a:avLst>
              <a:gd fmla="val 22222" name="adj"/>
            </a:avLst>
          </a:prstGeom>
          <a:solidFill>
            <a:srgbClr val="0072FF"/>
          </a:solidFill>
          <a:ln cap="flat" cmpd="sng" w="19050">
            <a:solidFill>
              <a:srgbClr val="00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657975" y="3700462"/>
            <a:ext cx="171450" cy="171450"/>
          </a:xfrm>
          <a:prstGeom prst="roundRect">
            <a:avLst>
              <a:gd fmla="val 22222" name="adj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657975" y="4252912"/>
            <a:ext cx="171450" cy="171450"/>
          </a:xfrm>
          <a:prstGeom prst="roundRect">
            <a:avLst>
              <a:gd fmla="val 22222" name="adj"/>
            </a:avLst>
          </a:prstGeom>
          <a:solidFill>
            <a:srgbClr val="0072FF"/>
          </a:solidFill>
          <a:ln cap="flat" cmpd="sng" w="19050">
            <a:solidFill>
              <a:srgbClr val="00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657975" y="4805362"/>
            <a:ext cx="171450" cy="171450"/>
          </a:xfrm>
          <a:prstGeom prst="roundRect">
            <a:avLst>
              <a:gd fmla="val 22222" name="adj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6657975" y="5357812"/>
            <a:ext cx="171450" cy="171450"/>
          </a:xfrm>
          <a:prstGeom prst="roundRect">
            <a:avLst>
              <a:gd fmla="val 22222" name="adj"/>
            </a:avLst>
          </a:prstGeom>
          <a:solidFill>
            <a:srgbClr val="0072FF"/>
          </a:solidFill>
          <a:ln cap="flat" cmpd="sng" w="19050">
            <a:solidFill>
              <a:srgbClr val="00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Select All That Apply (SATA)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62286"/>
            <a:ext cx="9906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340447"/>
            <a:ext cx="54292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" y="2790825"/>
            <a:ext cx="2419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38500" y="2790825"/>
            <a:ext cx="2419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3900" y="3438525"/>
            <a:ext cx="2419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38500" y="3438525"/>
            <a:ext cx="2419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3900" y="4086225"/>
            <a:ext cx="2419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238500" y="4086225"/>
            <a:ext cx="2419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6286500" y="2233761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Recognizing Cues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286500" y="2662386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Similar to SATA but allows for more options, often grouped. Used in Case Studies to filter through patient data.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371975" y="1862137"/>
            <a:ext cx="133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CASE STUDY: REVIEW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723900" y="2386012"/>
            <a:ext cx="49339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Click to highlight the findings below that require immediate follow-up: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477000" y="3483322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+/- SCORING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477000" y="3711922"/>
            <a:ext cx="5095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Get credit for identifying the "abnormal" findings. Lose credit for flagging normal findings as abnormal.</a:t>
            </a:r>
            <a:endParaRPr/>
          </a:p>
        </p:txBody>
      </p:sp>
      <p:pic>
        <p:nvPicPr>
          <p:cNvPr descr="image.png" id="224" name="Google Shape;224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86500" y="4471838"/>
            <a:ext cx="54292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/>
          <p:nvPr/>
        </p:nvSpPr>
        <p:spPr>
          <a:xfrm>
            <a:off x="6762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286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9810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Extended Multiple Response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2147887"/>
            <a:ext cx="54102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968847"/>
            <a:ext cx="11525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3447008"/>
            <a:ext cx="5429250" cy="727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63824" y="2386012"/>
            <a:ext cx="16256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32349" y="2386012"/>
            <a:ext cx="16256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900" y="2643187"/>
            <a:ext cx="139704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78124" y="2757487"/>
            <a:ext cx="13970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6286500" y="2340322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Categorizing &amp; Ordering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286500" y="2768947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 must move options into specific categories (e.g., Causes vs Symptoms) or into a specific order.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4591050" y="1862137"/>
            <a:ext cx="1114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CLIENT FINDINGS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477000" y="3589883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0/1 OR PARTIAL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477000" y="3818483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Points are awarded for placing items in the correct category.</a:t>
            </a:r>
            <a:endParaRPr/>
          </a:p>
        </p:txBody>
      </p:sp>
      <p:pic>
        <p:nvPicPr>
          <p:cNvPr descr="image.png" id="248" name="Google Shape;248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86500" y="4365128"/>
            <a:ext cx="54292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/>
          <p:nvPr/>
        </p:nvSpPr>
        <p:spPr>
          <a:xfrm>
            <a:off x="6762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8286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9810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723900" y="2386012"/>
            <a:ext cx="13970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OPTIONS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2378124" y="2500312"/>
            <a:ext cx="13970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URGENT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4146649" y="2500312"/>
            <a:ext cx="13970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NON-URGENT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Extended Drag and Drop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778472"/>
            <a:ext cx="12382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256633"/>
            <a:ext cx="5429250" cy="727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476250" y="3149947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Structured Decision Making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476250" y="3578572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Select one option per row. Used to determine if findings are Expected vs Unexpected.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66750" y="4399508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0/1 RULE (PER ROW)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66750" y="4628108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Each row is graded independently. No penalty for wrong rows (just 0 points).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10029825" y="1862137"/>
            <a:ext cx="1485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ASSESSMENT FINDINGS</a:t>
            </a:r>
            <a:endParaRPr/>
          </a:p>
        </p:txBody>
      </p:sp>
      <p:graphicFrame>
        <p:nvGraphicFramePr>
          <p:cNvPr id="270" name="Google Shape;270;p21"/>
          <p:cNvGraphicFramePr/>
          <p:nvPr/>
        </p:nvGraphicFramePr>
        <p:xfrm>
          <a:off x="6296025" y="2147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{22943E17-27E6-4F18-AA50-BFE81540D82A}</a:tableStyleId>
              </a:tblPr>
              <a:tblGrid>
                <a:gridCol w="2008000"/>
                <a:gridCol w="1543350"/>
                <a:gridCol w="1858875"/>
              </a:tblGrid>
              <a:tr h="4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Expected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Unexpected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Heart Rate 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Temp 39.5°C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p21"/>
          <p:cNvSpPr/>
          <p:nvPr/>
        </p:nvSpPr>
        <p:spPr>
          <a:xfrm>
            <a:off x="64865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66389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67913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9009012" y="2767012"/>
            <a:ext cx="133350" cy="133350"/>
          </a:xfrm>
          <a:prstGeom prst="roundRect">
            <a:avLst>
              <a:gd fmla="val 50000" name="adj"/>
            </a:avLst>
          </a:prstGeom>
          <a:solidFill>
            <a:srgbClr val="0072FF"/>
          </a:solidFill>
          <a:ln cap="flat" cmpd="sng" w="19050">
            <a:solidFill>
              <a:srgbClr val="00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10710118" y="2767012"/>
            <a:ext cx="133350" cy="13335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9009012" y="3243262"/>
            <a:ext cx="133350" cy="133350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10710118" y="3243262"/>
            <a:ext cx="133350" cy="133350"/>
          </a:xfrm>
          <a:prstGeom prst="roundRect">
            <a:avLst>
              <a:gd fmla="val 50000" name="adj"/>
            </a:avLst>
          </a:prstGeom>
          <a:solidFill>
            <a:srgbClr val="0072FF"/>
          </a:solidFill>
          <a:ln cap="flat" cmpd="sng" w="19050">
            <a:solidFill>
              <a:srgbClr val="00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Matrix / Grid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778472"/>
            <a:ext cx="12573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256633"/>
            <a:ext cx="5429250" cy="7276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6286500" y="3149947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Filling in the Gaps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6286500" y="3578572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Requires selecting the correct phrase to complete a sentence, paragraph, or table. It mimics writing a nursing note or an order.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4781550" y="1862137"/>
            <a:ext cx="92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NURSES' NOTE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1714500" y="3395662"/>
            <a:ext cx="29527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client is most likely experiencing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as evidenced by the client's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477000" y="4399508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0/1 RULE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477000" y="4628108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get a point for each correct dropdown selection.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6762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8286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9810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7" name="Google Shape;29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14500" y="3729037"/>
            <a:ext cx="16954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4500" y="4424362"/>
            <a:ext cx="11334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33725" y="3881437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81275" y="456723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Cloze (Drop-Down)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778472"/>
            <a:ext cx="14382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4256633"/>
            <a:ext cx="5429250" cy="727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476250" y="3149947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Highlighting Evidence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476250" y="3578572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 must click to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highlight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specific words or phrases in a medical record that represent abnormalities.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666750" y="4399508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+/- SCORING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666750" y="4628108"/>
            <a:ext cx="5095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Precise clicking is required. Identifying correct evidence gains points.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0172700" y="1862137"/>
            <a:ext cx="1343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HISTORY &amp; PHYSICAL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534150" y="2386012"/>
            <a:ext cx="49339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Highlight findings consistent with Appendicitis: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6534150" y="2790825"/>
            <a:ext cx="4933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Client reports nausea and vomiting. started 2 hours ago. noted. Lungs clear.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64865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66389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679132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0" y="2800350"/>
            <a:ext cx="904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77050" y="3074640"/>
            <a:ext cx="16097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Enhanced Hot Spot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738312"/>
            <a:ext cx="5429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747837"/>
            <a:ext cx="54102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671911"/>
            <a:ext cx="13144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150072"/>
            <a:ext cx="5429250" cy="94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62125" y="2807493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4"/>
          <p:cNvSpPr txBox="1"/>
          <p:nvPr/>
        </p:nvSpPr>
        <p:spPr>
          <a:xfrm>
            <a:off x="6286500" y="3043386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Click on the Diagram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6286500" y="3472011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 are presented with a diagram or photo (e.g., body part, equipment) and must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click specifically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on the correct area.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4210050" y="1862137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ANATOMY ASSESSMENT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776287" y="2497931"/>
            <a:ext cx="48291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Click the location where the nurse should auscultate the </a:t>
            </a:r>
            <a:r>
              <a:rPr b="0" i="0" lang="en-US" sz="1125" u="none" cap="none" strike="noStrike">
                <a:solidFill>
                  <a:srgbClr val="1E293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Apical Pulse</a:t>
            </a:r>
            <a:r>
              <a:rPr b="0" i="0" lang="en-US" sz="1125" u="none" cap="none" strike="noStrike">
                <a:solidFill>
                  <a:srgbClr val="1E293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.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6477000" y="4292947"/>
            <a:ext cx="5095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 SCHEMA: 0/1 RULE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6477000" y="4521547"/>
            <a:ext cx="5095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Precise placement is key. You must click within the designated acceptable margin to get the point.</a:t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6762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8286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981075" y="1895475"/>
            <a:ext cx="95250" cy="95250"/>
          </a:xfrm>
          <a:prstGeom prst="roundRect">
            <a:avLst>
              <a:gd fmla="val 50000" name="adj"/>
            </a:avLst>
          </a:prstGeom>
          <a:solidFill>
            <a:srgbClr val="86EF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3" name="Google Shape;34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71650" y="2817018"/>
            <a:ext cx="28384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4"/>
          <p:cNvSpPr/>
          <p:nvPr/>
        </p:nvSpPr>
        <p:spPr>
          <a:xfrm>
            <a:off x="3474690" y="4520058"/>
            <a:ext cx="238125" cy="238125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Hot Spot (Image)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5425529"/>
            <a:ext cx="4419600" cy="775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1901279"/>
            <a:ext cx="4476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0" y="1901279"/>
            <a:ext cx="4476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2368004"/>
            <a:ext cx="41529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2834729"/>
            <a:ext cx="41529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8750" y="2710904"/>
            <a:ext cx="171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00925" y="2368004"/>
            <a:ext cx="41529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00925" y="2834729"/>
            <a:ext cx="41529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5"/>
          <p:cNvSpPr txBox="1"/>
          <p:nvPr/>
        </p:nvSpPr>
        <p:spPr>
          <a:xfrm>
            <a:off x="2881312" y="1371748"/>
            <a:ext cx="6429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ultimate NGN item. It connects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Action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(Left),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Condition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(Middle), and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Outcome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(Right).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4029075" y="5616029"/>
            <a:ext cx="4133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SCORING: 0/1 PER CORRECT PLACEMENT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4029075" y="5844629"/>
            <a:ext cx="4133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must correctly match items to the correct side of the bowtie.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638175" y="2063204"/>
            <a:ext cx="4152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ACTIONS TO TAKE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7400925" y="2063204"/>
            <a:ext cx="4152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2FF"/>
                </a:solidFill>
                <a:latin typeface="Open Sans"/>
                <a:ea typeface="Open Sans"/>
                <a:cs typeface="Open Sans"/>
                <a:sym typeface="Open Sans"/>
              </a:rPr>
              <a:t>PARAMETERS TO MONITOR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476250" y="276373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Bowtie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76437"/>
            <a:ext cx="5429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42319"/>
            <a:ext cx="7905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320480"/>
            <a:ext cx="54292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1976437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6"/>
          <p:cNvSpPr txBox="1"/>
          <p:nvPr/>
        </p:nvSpPr>
        <p:spPr>
          <a:xfrm>
            <a:off x="6286500" y="3213794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Identifying Patterns</a:t>
            </a:r>
            <a:endParaRPr/>
          </a:p>
        </p:txBody>
      </p:sp>
      <p:sp>
        <p:nvSpPr>
          <p:cNvPr id="375" name="Google Shape;375;p26"/>
          <p:cNvSpPr txBox="1"/>
          <p:nvPr/>
        </p:nvSpPr>
        <p:spPr>
          <a:xfrm>
            <a:off x="6286500" y="3642419"/>
            <a:ext cx="5429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You are given data over time (e.g., vital signs at 8am, 9am, 10am). You must identify if the patient is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improving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declining</a:t>
            </a: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graphicFrame>
        <p:nvGraphicFramePr>
          <p:cNvPr id="376" name="Google Shape;376;p26"/>
          <p:cNvGraphicFramePr/>
          <p:nvPr/>
        </p:nvGraphicFramePr>
        <p:xfrm>
          <a:off x="6296025" y="43300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{22943E17-27E6-4F18-AA50-BFE81540D82A}</a:tableStyleId>
              </a:tblPr>
              <a:tblGrid>
                <a:gridCol w="1146425"/>
                <a:gridCol w="1504800"/>
                <a:gridCol w="1504800"/>
                <a:gridCol w="1254175"/>
              </a:tblGrid>
              <a:tr h="193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08:00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09:00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10:00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120/80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100/60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80/50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" name="Google Shape;377;p26"/>
          <p:cNvSpPr txBox="1"/>
          <p:nvPr/>
        </p:nvSpPr>
        <p:spPr>
          <a:xfrm>
            <a:off x="476250" y="2857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Type: Trend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rom thr thank you slide remove M logo whats that???" id="382" name="Google Shape;3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